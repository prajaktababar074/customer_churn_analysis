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9B312B-88C7-4E1C-AED3-0CE0D48B7614}" v="12" dt="2026-09-29T17:46:38.7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akta Babar" userId="e49896272e705d2f" providerId="LiveId" clId="{51C2A6E0-B215-407D-B90B-D6D13602AA9C}"/>
    <pc:docChg chg="undo custSel addSld delSld modSld">
      <pc:chgData name="Prajakta Babar" userId="e49896272e705d2f" providerId="LiveId" clId="{51C2A6E0-B215-407D-B90B-D6D13602AA9C}" dt="2026-09-29T17:57:11.135" v="473" actId="1076"/>
      <pc:docMkLst>
        <pc:docMk/>
      </pc:docMkLst>
      <pc:sldChg chg="addSp modSp mod">
        <pc:chgData name="Prajakta Babar" userId="e49896272e705d2f" providerId="LiveId" clId="{51C2A6E0-B215-407D-B90B-D6D13602AA9C}" dt="2026-09-29T17:33:34.664" v="278" actId="1076"/>
        <pc:sldMkLst>
          <pc:docMk/>
          <pc:sldMk cId="3070827815" sldId="257"/>
        </pc:sldMkLst>
        <pc:spChg chg="mod">
          <ac:chgData name="Prajakta Babar" userId="e49896272e705d2f" providerId="LiveId" clId="{51C2A6E0-B215-407D-B90B-D6D13602AA9C}" dt="2026-09-29T17:33:08.057" v="274" actId="1076"/>
          <ac:spMkLst>
            <pc:docMk/>
            <pc:sldMk cId="3070827815" sldId="257"/>
            <ac:spMk id="16" creationId="{F0D729AD-28E3-79FF-F750-52EEA148E8B5}"/>
          </ac:spMkLst>
        </pc:spChg>
        <pc:spChg chg="add mod">
          <ac:chgData name="Prajakta Babar" userId="e49896272e705d2f" providerId="LiveId" clId="{51C2A6E0-B215-407D-B90B-D6D13602AA9C}" dt="2026-09-29T17:33:19.952" v="276" actId="1076"/>
          <ac:spMkLst>
            <pc:docMk/>
            <pc:sldMk cId="3070827815" sldId="257"/>
            <ac:spMk id="17" creationId="{0E7B9827-2C4F-B361-7835-A6177BFCEEF1}"/>
          </ac:spMkLst>
        </pc:spChg>
        <pc:picChg chg="add mod">
          <ac:chgData name="Prajakta Babar" userId="e49896272e705d2f" providerId="LiveId" clId="{51C2A6E0-B215-407D-B90B-D6D13602AA9C}" dt="2026-09-29T17:33:34.664" v="278" actId="1076"/>
          <ac:picMkLst>
            <pc:docMk/>
            <pc:sldMk cId="3070827815" sldId="257"/>
            <ac:picMk id="19" creationId="{7DB6AFA1-6124-3909-12F1-1AF45FB0B60A}"/>
          </ac:picMkLst>
        </pc:picChg>
      </pc:sldChg>
      <pc:sldChg chg="addSp modSp new mod">
        <pc:chgData name="Prajakta Babar" userId="e49896272e705d2f" providerId="LiveId" clId="{51C2A6E0-B215-407D-B90B-D6D13602AA9C}" dt="2026-09-29T17:57:11.135" v="473" actId="1076"/>
        <pc:sldMkLst>
          <pc:docMk/>
          <pc:sldMk cId="3290158137" sldId="258"/>
        </pc:sldMkLst>
        <pc:spChg chg="add mod">
          <ac:chgData name="Prajakta Babar" userId="e49896272e705d2f" providerId="LiveId" clId="{51C2A6E0-B215-407D-B90B-D6D13602AA9C}" dt="2026-09-29T17:32:18.234" v="265" actId="14100"/>
          <ac:spMkLst>
            <pc:docMk/>
            <pc:sldMk cId="3290158137" sldId="258"/>
            <ac:spMk id="3" creationId="{2DC97A6E-180A-CFDB-A5ED-96CB2DC0A929}"/>
          </ac:spMkLst>
        </pc:spChg>
        <pc:spChg chg="add mod">
          <ac:chgData name="Prajakta Babar" userId="e49896272e705d2f" providerId="LiveId" clId="{51C2A6E0-B215-407D-B90B-D6D13602AA9C}" dt="2026-09-29T17:57:11.135" v="473" actId="1076"/>
          <ac:spMkLst>
            <pc:docMk/>
            <pc:sldMk cId="3290158137" sldId="258"/>
            <ac:spMk id="7" creationId="{C3BE1028-FE85-B49C-0AFC-D7CBB1609D00}"/>
          </ac:spMkLst>
        </pc:spChg>
        <pc:picChg chg="add mod">
          <ac:chgData name="Prajakta Babar" userId="e49896272e705d2f" providerId="LiveId" clId="{51C2A6E0-B215-407D-B90B-D6D13602AA9C}" dt="2026-09-29T17:56:51.465" v="472" actId="1076"/>
          <ac:picMkLst>
            <pc:docMk/>
            <pc:sldMk cId="3290158137" sldId="258"/>
            <ac:picMk id="5" creationId="{7D741875-6FBE-6B32-DE35-70F9D06F9D2C}"/>
          </ac:picMkLst>
        </pc:picChg>
        <pc:picChg chg="add mod">
          <ac:chgData name="Prajakta Babar" userId="e49896272e705d2f" providerId="LiveId" clId="{51C2A6E0-B215-407D-B90B-D6D13602AA9C}" dt="2026-09-29T17:56:48.861" v="471" actId="1076"/>
          <ac:picMkLst>
            <pc:docMk/>
            <pc:sldMk cId="3290158137" sldId="258"/>
            <ac:picMk id="9" creationId="{8D8B311D-D50A-78B6-2D45-E25DB1B6C22D}"/>
          </ac:picMkLst>
        </pc:picChg>
      </pc:sldChg>
      <pc:sldChg chg="addSp delSp modSp new mod">
        <pc:chgData name="Prajakta Babar" userId="e49896272e705d2f" providerId="LiveId" clId="{51C2A6E0-B215-407D-B90B-D6D13602AA9C}" dt="2026-09-29T17:45:39.503" v="359" actId="14100"/>
        <pc:sldMkLst>
          <pc:docMk/>
          <pc:sldMk cId="385653736" sldId="259"/>
        </pc:sldMkLst>
        <pc:spChg chg="add mod">
          <ac:chgData name="Prajakta Babar" userId="e49896272e705d2f" providerId="LiveId" clId="{51C2A6E0-B215-407D-B90B-D6D13602AA9C}" dt="2026-09-29T17:40:39.389" v="322" actId="1076"/>
          <ac:spMkLst>
            <pc:docMk/>
            <pc:sldMk cId="385653736" sldId="259"/>
            <ac:spMk id="3" creationId="{0CEE57A9-B6A4-3025-E1B2-23E2832C7F87}"/>
          </ac:spMkLst>
        </pc:spChg>
        <pc:spChg chg="add mod">
          <ac:chgData name="Prajakta Babar" userId="e49896272e705d2f" providerId="LiveId" clId="{51C2A6E0-B215-407D-B90B-D6D13602AA9C}" dt="2026-09-29T17:45:14.900" v="355" actId="255"/>
          <ac:spMkLst>
            <pc:docMk/>
            <pc:sldMk cId="385653736" sldId="259"/>
            <ac:spMk id="7" creationId="{257DB92C-4E52-1EDA-57CC-86095B65D408}"/>
          </ac:spMkLst>
        </pc:spChg>
        <pc:spChg chg="add mod">
          <ac:chgData name="Prajakta Babar" userId="e49896272e705d2f" providerId="LiveId" clId="{51C2A6E0-B215-407D-B90B-D6D13602AA9C}" dt="2026-09-29T17:45:08.543" v="354" actId="255"/>
          <ac:spMkLst>
            <pc:docMk/>
            <pc:sldMk cId="385653736" sldId="259"/>
            <ac:spMk id="9" creationId="{67B69206-9832-CAC7-AC65-0BCA6C731EFF}"/>
          </ac:spMkLst>
        </pc:spChg>
        <pc:spChg chg="add del">
          <ac:chgData name="Prajakta Babar" userId="e49896272e705d2f" providerId="LiveId" clId="{51C2A6E0-B215-407D-B90B-D6D13602AA9C}" dt="2026-09-29T17:43:07.253" v="344" actId="22"/>
          <ac:spMkLst>
            <pc:docMk/>
            <pc:sldMk cId="385653736" sldId="259"/>
            <ac:spMk id="11" creationId="{4D76845C-749F-24BA-07F6-9FAD39A0022A}"/>
          </ac:spMkLst>
        </pc:spChg>
        <pc:picChg chg="add mod">
          <ac:chgData name="Prajakta Babar" userId="e49896272e705d2f" providerId="LiveId" clId="{51C2A6E0-B215-407D-B90B-D6D13602AA9C}" dt="2026-09-29T17:44:51.170" v="353" actId="1076"/>
          <ac:picMkLst>
            <pc:docMk/>
            <pc:sldMk cId="385653736" sldId="259"/>
            <ac:picMk id="5" creationId="{4CF322C0-0F1E-CC0B-DA9F-192A8B4CA739}"/>
          </ac:picMkLst>
        </pc:picChg>
        <pc:picChg chg="add del mod">
          <ac:chgData name="Prajakta Babar" userId="e49896272e705d2f" providerId="LiveId" clId="{51C2A6E0-B215-407D-B90B-D6D13602AA9C}" dt="2026-09-29T17:44:03.484" v="347" actId="478"/>
          <ac:picMkLst>
            <pc:docMk/>
            <pc:sldMk cId="385653736" sldId="259"/>
            <ac:picMk id="13" creationId="{E2E081F3-3FC1-E67F-0AF7-F2956C112117}"/>
          </ac:picMkLst>
        </pc:picChg>
        <pc:picChg chg="add mod">
          <ac:chgData name="Prajakta Babar" userId="e49896272e705d2f" providerId="LiveId" clId="{51C2A6E0-B215-407D-B90B-D6D13602AA9C}" dt="2026-09-29T17:45:39.503" v="359" actId="14100"/>
          <ac:picMkLst>
            <pc:docMk/>
            <pc:sldMk cId="385653736" sldId="259"/>
            <ac:picMk id="15" creationId="{1EEB2602-21BD-DF35-A86A-B9C5994B9C1E}"/>
          </ac:picMkLst>
        </pc:picChg>
      </pc:sldChg>
      <pc:sldChg chg="addSp modSp new mod">
        <pc:chgData name="Prajakta Babar" userId="e49896272e705d2f" providerId="LiveId" clId="{51C2A6E0-B215-407D-B90B-D6D13602AA9C}" dt="2026-09-29T17:49:47.461" v="386" actId="1076"/>
        <pc:sldMkLst>
          <pc:docMk/>
          <pc:sldMk cId="311341698" sldId="260"/>
        </pc:sldMkLst>
        <pc:spChg chg="add mod">
          <ac:chgData name="Prajakta Babar" userId="e49896272e705d2f" providerId="LiveId" clId="{51C2A6E0-B215-407D-B90B-D6D13602AA9C}" dt="2026-09-29T17:46:49.796" v="365" actId="113"/>
          <ac:spMkLst>
            <pc:docMk/>
            <pc:sldMk cId="311341698" sldId="260"/>
            <ac:spMk id="3" creationId="{4C066B57-D347-9E0C-C365-48517623769A}"/>
          </ac:spMkLst>
        </pc:spChg>
        <pc:spChg chg="add mod">
          <ac:chgData name="Prajakta Babar" userId="e49896272e705d2f" providerId="LiveId" clId="{51C2A6E0-B215-407D-B90B-D6D13602AA9C}" dt="2026-09-29T17:48:38.694" v="377" actId="1076"/>
          <ac:spMkLst>
            <pc:docMk/>
            <pc:sldMk cId="311341698" sldId="260"/>
            <ac:spMk id="5" creationId="{676BA80A-4E34-E61D-ACE1-7410B84E6096}"/>
          </ac:spMkLst>
        </pc:spChg>
        <pc:picChg chg="add mod">
          <ac:chgData name="Prajakta Babar" userId="e49896272e705d2f" providerId="LiveId" clId="{51C2A6E0-B215-407D-B90B-D6D13602AA9C}" dt="2026-09-29T17:48:26.639" v="376" actId="1076"/>
          <ac:picMkLst>
            <pc:docMk/>
            <pc:sldMk cId="311341698" sldId="260"/>
            <ac:picMk id="7" creationId="{0C96FDFC-F680-C7CB-6B24-388336918D1B}"/>
          </ac:picMkLst>
        </pc:picChg>
        <pc:picChg chg="add mod">
          <ac:chgData name="Prajakta Babar" userId="e49896272e705d2f" providerId="LiveId" clId="{51C2A6E0-B215-407D-B90B-D6D13602AA9C}" dt="2026-09-29T17:49:47.461" v="386" actId="1076"/>
          <ac:picMkLst>
            <pc:docMk/>
            <pc:sldMk cId="311341698" sldId="260"/>
            <ac:picMk id="9" creationId="{E76A2400-2B4C-BF1A-5B84-9EBA35548746}"/>
          </ac:picMkLst>
        </pc:picChg>
      </pc:sldChg>
      <pc:sldChg chg="addSp modSp new mod">
        <pc:chgData name="Prajakta Babar" userId="e49896272e705d2f" providerId="LiveId" clId="{51C2A6E0-B215-407D-B90B-D6D13602AA9C}" dt="2026-09-29T17:51:30.739" v="401" actId="14100"/>
        <pc:sldMkLst>
          <pc:docMk/>
          <pc:sldMk cId="766338271" sldId="261"/>
        </pc:sldMkLst>
        <pc:spChg chg="add mod">
          <ac:chgData name="Prajakta Babar" userId="e49896272e705d2f" providerId="LiveId" clId="{51C2A6E0-B215-407D-B90B-D6D13602AA9C}" dt="2026-09-29T17:51:22.417" v="399" actId="1076"/>
          <ac:spMkLst>
            <pc:docMk/>
            <pc:sldMk cId="766338271" sldId="261"/>
            <ac:spMk id="3" creationId="{752FBD21-5AD9-8E08-DFAD-E08223B1C3CB}"/>
          </ac:spMkLst>
        </pc:spChg>
        <pc:picChg chg="add mod">
          <ac:chgData name="Prajakta Babar" userId="e49896272e705d2f" providerId="LiveId" clId="{51C2A6E0-B215-407D-B90B-D6D13602AA9C}" dt="2026-09-29T17:51:30.739" v="401" actId="14100"/>
          <ac:picMkLst>
            <pc:docMk/>
            <pc:sldMk cId="766338271" sldId="261"/>
            <ac:picMk id="5" creationId="{EC4AF0FA-A5B3-41D8-5AD8-3D0A8B2A471E}"/>
          </ac:picMkLst>
        </pc:picChg>
      </pc:sldChg>
      <pc:sldChg chg="addSp modSp new mod">
        <pc:chgData name="Prajakta Babar" userId="e49896272e705d2f" providerId="LiveId" clId="{51C2A6E0-B215-407D-B90B-D6D13602AA9C}" dt="2026-09-29T17:55:19.405" v="462" actId="120"/>
        <pc:sldMkLst>
          <pc:docMk/>
          <pc:sldMk cId="1842280373" sldId="262"/>
        </pc:sldMkLst>
        <pc:spChg chg="add mod">
          <ac:chgData name="Prajakta Babar" userId="e49896272e705d2f" providerId="LiveId" clId="{51C2A6E0-B215-407D-B90B-D6D13602AA9C}" dt="2026-09-29T17:55:19.405" v="462" actId="120"/>
          <ac:spMkLst>
            <pc:docMk/>
            <pc:sldMk cId="1842280373" sldId="262"/>
            <ac:spMk id="3" creationId="{09278E7E-FEAF-3E19-3DD4-12E06D6FA0F6}"/>
          </ac:spMkLst>
        </pc:spChg>
        <pc:spChg chg="add mod">
          <ac:chgData name="Prajakta Babar" userId="e49896272e705d2f" providerId="LiveId" clId="{51C2A6E0-B215-407D-B90B-D6D13602AA9C}" dt="2026-09-29T17:54:53.774" v="460" actId="20577"/>
          <ac:spMkLst>
            <pc:docMk/>
            <pc:sldMk cId="1842280373" sldId="262"/>
            <ac:spMk id="5" creationId="{D70F0675-262D-B550-8D1B-A9AF570D22B6}"/>
          </ac:spMkLst>
        </pc:spChg>
        <pc:spChg chg="add mod">
          <ac:chgData name="Prajakta Babar" userId="e49896272e705d2f" providerId="LiveId" clId="{51C2A6E0-B215-407D-B90B-D6D13602AA9C}" dt="2026-09-29T17:54:25.684" v="454" actId="113"/>
          <ac:spMkLst>
            <pc:docMk/>
            <pc:sldMk cId="1842280373" sldId="262"/>
            <ac:spMk id="7" creationId="{3C3803A5-DCD1-B2EA-E968-2FE09B46CABC}"/>
          </ac:spMkLst>
        </pc:spChg>
      </pc:sldChg>
      <pc:sldChg chg="new del">
        <pc:chgData name="Prajakta Babar" userId="e49896272e705d2f" providerId="LiveId" clId="{51C2A6E0-B215-407D-B90B-D6D13602AA9C}" dt="2026-09-29T17:55:50.514" v="464" actId="2696"/>
        <pc:sldMkLst>
          <pc:docMk/>
          <pc:sldMk cId="70110878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42A23-8ABA-B757-F1E3-9C8AA00F5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2F205-B363-FADA-6DA2-DCD6289D0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FC24B-311A-ED14-9918-916C8891D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4B1-2888-4E2D-AC54-21BC8AF759D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6B2C2-463D-4B57-464D-BF02BB6B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CBA7D-13C7-88AA-225D-A2D2B925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E45-BE53-411B-A17C-761534C95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63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90023-D433-67BB-8056-211FD582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8F3E2-30A4-E102-B2C6-FB1CBDA46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54D4D-1382-9BDD-6245-C61E13ADB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4B1-2888-4E2D-AC54-21BC8AF759D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1D679-A9CC-DD23-2EE4-BBB46A3E8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1183A-F5DF-446F-4E9E-9A085938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E45-BE53-411B-A17C-761534C95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362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C16D-EF4A-B082-4045-8A175CA68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165BF-8EF7-5D48-914A-4661812AE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D9BDB-9057-EF91-CDA5-FB6291062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4B1-2888-4E2D-AC54-21BC8AF759D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38DBD-C86F-5A81-5D3D-3AC380CC3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6684D-8950-BC74-174C-DC210661C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E45-BE53-411B-A17C-761534C95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269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9A6F9-E783-61C1-16E3-0E9D045FA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93409-E096-337B-8822-606676928E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852CD-3808-49C8-BB15-C6D1A0E35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C0D41-FEC2-F02D-AB6D-3C76680AE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4B1-2888-4E2D-AC54-21BC8AF759D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FB457-83E5-CC51-5625-27BB5A5D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84480-0AAA-F5B1-C0FB-F75F6851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E45-BE53-411B-A17C-761534C95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94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B18B-DC53-7421-7AF8-9885E4299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48D78-1873-E44D-295D-4784699BE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2FA9A-8287-892D-078B-B7B38D998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61232E-F8BD-8604-49AA-64E7A51B5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2AB02E-2ABD-3057-F8AE-1889DA867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30E499-6B2E-E685-5008-C146BD87E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4B1-2888-4E2D-AC54-21BC8AF759D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8282CE-0321-9F4D-D983-0BAB45734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6F7F4B-E6C6-903D-EAE9-7B592242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E45-BE53-411B-A17C-761534C95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197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B8A1-6FF9-DDBD-0CDE-320D63650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C92A0-FC9E-13A8-CECE-F38B983C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4B1-2888-4E2D-AC54-21BC8AF759D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5358F2-1538-50E1-0238-805D9AF36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06D5C-742F-26A5-906E-0C6E7D70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E45-BE53-411B-A17C-761534C95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10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EFE84-8DE7-F134-BA3D-A9E18A101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4B1-2888-4E2D-AC54-21BC8AF759D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AA30E-C85E-9394-EBF2-CB5C9B0FD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263BF-2DD9-1295-7935-43B984DF5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E45-BE53-411B-A17C-761534C95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39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5036-1FCF-7B85-1A88-EDFA0041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DDA2E-5A89-000B-BD28-3D9B5D82E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930D-4054-FA4D-8DBB-3437D0A2D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B825B-2935-4C91-FAE8-0061039F1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4B1-2888-4E2D-AC54-21BC8AF759D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EDDF8-10FD-498D-BEEC-AF015F57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AECC5-4EB8-F19B-B095-8BCEBA238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E45-BE53-411B-A17C-761534C95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529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4E41-05CB-C42A-DF28-207A562B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059033-C5EC-4164-F51D-578F1E287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C2BC7-EF6F-CB4B-EE90-ABCC8301F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7FD93-AA73-3A31-64DB-A58E0D18A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4B1-2888-4E2D-AC54-21BC8AF759D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31610-7B37-2FAF-194B-1D72769A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60A62-D61E-86A8-BFF4-5D9F8434B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E45-BE53-411B-A17C-761534C95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397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F12CE-5CB1-A27B-0086-99C491CB7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2B9A46-6069-4D3F-11F1-F378D900D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749FC-790C-0C1A-C920-956FB9E9F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4B1-2888-4E2D-AC54-21BC8AF759D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2545D-BB27-9B7A-F8E2-3EAFEA735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A8F37-DBE3-D4D9-8C87-A5EBBFFA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E45-BE53-411B-A17C-761534C95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97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BAA20F-FB1D-D99B-E7E1-A2EF2A1AC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C0DC70-DE4B-B7DC-33CD-360C74775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BCE5E-D2D8-6701-E484-F3F73721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4B1-2888-4E2D-AC54-21BC8AF759D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C12D8-D963-7221-95EF-D9BD6033A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9DE17-DC7A-E8B4-7BA1-3671601F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E45-BE53-411B-A17C-761534C95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193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3B6C35-52D0-8EF5-F2CF-58974A464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F575D-BAA5-F86F-DCB4-BBA7F1B01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C339F-1611-9330-48EE-FBBE993CC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474B1-2888-4E2D-AC54-21BC8AF759D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A5996-AE8C-7DAF-950D-A8A86F563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2ABAC-3D69-5C2F-2647-6D10D8165D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34E45-BE53-411B-A17C-761534C95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343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A8E76-5ECB-53E6-D486-540A5BC5E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2826"/>
            <a:ext cx="9144000" cy="2615380"/>
          </a:xfrm>
        </p:spPr>
        <p:txBody>
          <a:bodyPr>
            <a:normAutofit/>
          </a:bodyPr>
          <a:lstStyle/>
          <a:p>
            <a:r>
              <a:rPr lang="en-IN" b="1" dirty="0">
                <a:latin typeface="Arial Rounded MT Bold" panose="020F0704030504030204" pitchFamily="34" charset="0"/>
              </a:rPr>
              <a:t>Churn Analysis and </a:t>
            </a:r>
            <a:br>
              <a:rPr lang="en-IN" b="1" dirty="0">
                <a:latin typeface="Arial Rounded MT Bold" panose="020F0704030504030204" pitchFamily="34" charset="0"/>
              </a:rPr>
            </a:br>
            <a:r>
              <a:rPr lang="en-IN" b="1" dirty="0">
                <a:latin typeface="Arial Rounded MT Bold" panose="020F0704030504030204" pitchFamily="34" charset="0"/>
              </a:rPr>
              <a:t>Customer Intelligence</a:t>
            </a:r>
          </a:p>
        </p:txBody>
      </p:sp>
    </p:spTree>
    <p:extLst>
      <p:ext uri="{BB962C8B-B14F-4D97-AF65-F5344CB8AC3E}">
        <p14:creationId xmlns:p14="http://schemas.microsoft.com/office/powerpoint/2010/main" val="30561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9657FA-3B51-7182-B667-6615D0384E80}"/>
              </a:ext>
            </a:extLst>
          </p:cNvPr>
          <p:cNvSpPr txBox="1"/>
          <p:nvPr/>
        </p:nvSpPr>
        <p:spPr>
          <a:xfrm>
            <a:off x="8790039" y="16518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33D8C0-524A-8C0E-8C3C-656D7752B77E}"/>
              </a:ext>
            </a:extLst>
          </p:cNvPr>
          <p:cNvSpPr txBox="1"/>
          <p:nvPr/>
        </p:nvSpPr>
        <p:spPr>
          <a:xfrm>
            <a:off x="8942439" y="18042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55794E-5EA5-5C54-C8B2-8FBE2D60B314}"/>
              </a:ext>
            </a:extLst>
          </p:cNvPr>
          <p:cNvSpPr txBox="1"/>
          <p:nvPr/>
        </p:nvSpPr>
        <p:spPr>
          <a:xfrm>
            <a:off x="9094839" y="19566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9F9D7-9843-7DFD-3734-86CD33F9EA67}"/>
              </a:ext>
            </a:extLst>
          </p:cNvPr>
          <p:cNvSpPr txBox="1"/>
          <p:nvPr/>
        </p:nvSpPr>
        <p:spPr>
          <a:xfrm>
            <a:off x="9247239" y="21090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CA34BD-D2DC-0FEC-6BF6-2BB2282634C9}"/>
              </a:ext>
            </a:extLst>
          </p:cNvPr>
          <p:cNvSpPr txBox="1"/>
          <p:nvPr/>
        </p:nvSpPr>
        <p:spPr>
          <a:xfrm>
            <a:off x="9399639" y="22614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D729AD-28E3-79FF-F750-52EEA148E8B5}"/>
              </a:ext>
            </a:extLst>
          </p:cNvPr>
          <p:cNvSpPr txBox="1"/>
          <p:nvPr/>
        </p:nvSpPr>
        <p:spPr>
          <a:xfrm>
            <a:off x="-609600" y="218703"/>
            <a:ext cx="113365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Churn Analysis and Customer Intelligence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7B9827-2C4F-B361-7835-A6177BFCEEF1}"/>
              </a:ext>
            </a:extLst>
          </p:cNvPr>
          <p:cNvSpPr txBox="1"/>
          <p:nvPr/>
        </p:nvSpPr>
        <p:spPr>
          <a:xfrm>
            <a:off x="553961" y="1504533"/>
            <a:ext cx="957662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b="1" dirty="0"/>
              <a:t>1.The Business Challenge</a:t>
            </a:r>
          </a:p>
          <a:p>
            <a:r>
              <a:rPr lang="en-IN" dirty="0"/>
              <a:t>In the hyper-competitive OTT landscape (Netflix, Hotstar, Prime), retention is the only way to survive. You will act as a Data Analyst tasked with identifying high-risk subscribers using a multi-dimensional dataset (Customer demographics, Subscription tiers, and Support escalations).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sz="1900" b="1" dirty="0"/>
              <a:t>2. Core Tech Stack</a:t>
            </a:r>
          </a:p>
          <a:p>
            <a:r>
              <a:rPr lang="en-IN" dirty="0"/>
              <a:t>SQL &amp; Python Integration (</a:t>
            </a:r>
            <a:r>
              <a:rPr lang="en-IN" dirty="0" err="1"/>
              <a:t>numpy</a:t>
            </a:r>
            <a:r>
              <a:rPr lang="en-IN" dirty="0"/>
              <a:t>, pandas, sqlite3, matplotlib, seaborn), Performance Engineering (data cleaning, feature engineering, analytics), </a:t>
            </a:r>
            <a:r>
              <a:rPr lang="en-IN" dirty="0" err="1"/>
              <a:t>Behavioral</a:t>
            </a:r>
            <a:r>
              <a:rPr lang="en-IN" dirty="0"/>
              <a:t> Visualization, Writing Actionable Insights.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sz="1900" b="1" dirty="0"/>
              <a:t>3. Project Milestones </a:t>
            </a:r>
          </a:p>
          <a:p>
            <a:r>
              <a:rPr lang="en-IN" dirty="0"/>
              <a:t>• Relational Data Extraction: Connecting Python to SQL databases to pull multi-table datasets. </a:t>
            </a:r>
          </a:p>
          <a:p>
            <a:r>
              <a:rPr lang="en-IN" dirty="0"/>
              <a:t>• Advanced Feature Engineering: Data imports, calculating tenure, churn rates, and customer aging. • Executive Reporting: Translating technical findings into billion-dollar business insights.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DB6AFA1-6124-3909-12F1-1AF45FB0B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2192" y="779194"/>
            <a:ext cx="981414" cy="93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827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C97A6E-180A-CFDB-A5ED-96CB2DC0A929}"/>
              </a:ext>
            </a:extLst>
          </p:cNvPr>
          <p:cNvSpPr txBox="1"/>
          <p:nvPr/>
        </p:nvSpPr>
        <p:spPr>
          <a:xfrm>
            <a:off x="678425" y="346276"/>
            <a:ext cx="721687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/>
              <a:t>Churn Analysis - Roadmap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41875-6FBE-6B32-DE35-70F9D06F9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426" y="675669"/>
            <a:ext cx="1082134" cy="8763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BE1028-FE85-B49C-0AFC-D7CBB1609D00}"/>
              </a:ext>
            </a:extLst>
          </p:cNvPr>
          <p:cNvSpPr txBox="1"/>
          <p:nvPr/>
        </p:nvSpPr>
        <p:spPr>
          <a:xfrm>
            <a:off x="481779" y="1946982"/>
            <a:ext cx="1061883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•</a:t>
            </a:r>
            <a:r>
              <a:rPr lang="en-IN" sz="2000" dirty="0"/>
              <a:t> </a:t>
            </a:r>
            <a:r>
              <a:rPr lang="en-IN" sz="2800" dirty="0"/>
              <a:t>Connect SQL database to Python </a:t>
            </a:r>
            <a:r>
              <a:rPr lang="en-IN" sz="2400" dirty="0"/>
              <a:t>– </a:t>
            </a:r>
            <a:r>
              <a:rPr lang="en-IN" sz="2000" dirty="0"/>
              <a:t>pandas and sqlite3 </a:t>
            </a:r>
          </a:p>
          <a:p>
            <a:r>
              <a:rPr lang="en-IN" sz="2400" dirty="0"/>
              <a:t>•</a:t>
            </a:r>
            <a:r>
              <a:rPr lang="en-IN" sz="2000" dirty="0"/>
              <a:t> </a:t>
            </a:r>
            <a:r>
              <a:rPr lang="en-IN" sz="2800" dirty="0"/>
              <a:t>Data import using SQL query in Python </a:t>
            </a:r>
            <a:r>
              <a:rPr lang="en-IN" sz="2400" dirty="0"/>
              <a:t>– </a:t>
            </a:r>
            <a:r>
              <a:rPr lang="en-IN" sz="2000" dirty="0"/>
              <a:t>pandas and sqlite3 </a:t>
            </a:r>
          </a:p>
          <a:p>
            <a:r>
              <a:rPr lang="en-IN" sz="2400" dirty="0"/>
              <a:t>• </a:t>
            </a:r>
            <a:r>
              <a:rPr lang="en-IN" sz="2800" dirty="0"/>
              <a:t>Data Cleaning </a:t>
            </a:r>
            <a:r>
              <a:rPr lang="en-IN" sz="2400" dirty="0"/>
              <a:t>– </a:t>
            </a:r>
            <a:r>
              <a:rPr lang="en-IN" sz="2000" dirty="0" err="1"/>
              <a:t>numpy</a:t>
            </a:r>
            <a:r>
              <a:rPr lang="en-IN" sz="2000" dirty="0"/>
              <a:t> and pandas </a:t>
            </a:r>
          </a:p>
          <a:p>
            <a:r>
              <a:rPr lang="en-IN" sz="2000" dirty="0"/>
              <a:t>         • data types, rename cols, select specific cols, QCs, handle missing/null values </a:t>
            </a:r>
          </a:p>
          <a:p>
            <a:r>
              <a:rPr lang="en-IN" sz="2400" dirty="0"/>
              <a:t>• </a:t>
            </a:r>
            <a:r>
              <a:rPr lang="en-IN" sz="2800" dirty="0"/>
              <a:t>Feature Engineering</a:t>
            </a:r>
            <a:r>
              <a:rPr lang="en-IN" sz="2400" dirty="0"/>
              <a:t> – </a:t>
            </a:r>
            <a:r>
              <a:rPr lang="en-IN" sz="2000" dirty="0" err="1"/>
              <a:t>numpy</a:t>
            </a:r>
            <a:r>
              <a:rPr lang="en-IN" sz="2000" dirty="0"/>
              <a:t> and pandas </a:t>
            </a:r>
          </a:p>
          <a:p>
            <a:r>
              <a:rPr lang="en-IN" sz="2400" dirty="0"/>
              <a:t>       </a:t>
            </a:r>
            <a:r>
              <a:rPr lang="en-IN" sz="2000" dirty="0"/>
              <a:t>• create new calculated cols, data transformation, use filters </a:t>
            </a:r>
          </a:p>
          <a:p>
            <a:r>
              <a:rPr lang="en-IN" sz="2400" dirty="0"/>
              <a:t>•</a:t>
            </a:r>
            <a:r>
              <a:rPr lang="en-IN" sz="2000" dirty="0"/>
              <a:t> </a:t>
            </a:r>
            <a:r>
              <a:rPr lang="en-IN" sz="2800" dirty="0"/>
              <a:t>Data Analysis </a:t>
            </a:r>
            <a:r>
              <a:rPr lang="en-IN" sz="2400" dirty="0"/>
              <a:t>– </a:t>
            </a:r>
            <a:r>
              <a:rPr lang="en-IN" sz="2000" dirty="0" err="1"/>
              <a:t>numpy</a:t>
            </a:r>
            <a:r>
              <a:rPr lang="en-IN" sz="2000" dirty="0"/>
              <a:t> and pandas </a:t>
            </a:r>
          </a:p>
          <a:p>
            <a:r>
              <a:rPr lang="en-IN" sz="2000" dirty="0"/>
              <a:t>         •  EDA - aggregation, group by, pivot table </a:t>
            </a:r>
          </a:p>
          <a:p>
            <a:r>
              <a:rPr lang="en-IN" sz="2400" dirty="0"/>
              <a:t>•</a:t>
            </a:r>
            <a:r>
              <a:rPr lang="en-IN" sz="2000" dirty="0"/>
              <a:t> </a:t>
            </a:r>
            <a:r>
              <a:rPr lang="en-IN" sz="2800" dirty="0"/>
              <a:t>Data Visualization </a:t>
            </a:r>
            <a:r>
              <a:rPr lang="en-IN" sz="2400" dirty="0"/>
              <a:t>– </a:t>
            </a:r>
            <a:r>
              <a:rPr lang="en-IN" sz="2000" dirty="0"/>
              <a:t>matplotlib and seaborn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8B311D-D50A-78B6-2D45-E25DB1B6C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908" y="1383249"/>
            <a:ext cx="2367789" cy="449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158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EE57A9-B6A4-3025-E1B2-23E2832C7F87}"/>
              </a:ext>
            </a:extLst>
          </p:cNvPr>
          <p:cNvSpPr txBox="1"/>
          <p:nvPr/>
        </p:nvSpPr>
        <p:spPr>
          <a:xfrm>
            <a:off x="550606" y="297114"/>
            <a:ext cx="76101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/>
              <a:t>Churn Definition by Business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322C0-0F1E-CC0B-DA9F-192A8B4CA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662" y="297114"/>
            <a:ext cx="876376" cy="8916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7DB92C-4E52-1EDA-57CC-86095B65D408}"/>
              </a:ext>
            </a:extLst>
          </p:cNvPr>
          <p:cNvSpPr txBox="1"/>
          <p:nvPr/>
        </p:nvSpPr>
        <p:spPr>
          <a:xfrm>
            <a:off x="245806" y="1328655"/>
            <a:ext cx="9389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Churn analysis is the process of figuring out why customers stop doing business with you.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69206-9832-CAC7-AC65-0BCA6C731EFF}"/>
              </a:ext>
            </a:extLst>
          </p:cNvPr>
          <p:cNvSpPr txBox="1"/>
          <p:nvPr/>
        </p:nvSpPr>
        <p:spPr>
          <a:xfrm>
            <a:off x="245806" y="1960087"/>
            <a:ext cx="85933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this, we only need to look at three things: </a:t>
            </a:r>
          </a:p>
          <a:p>
            <a:r>
              <a:rPr lang="en-IN" dirty="0"/>
              <a:t>• </a:t>
            </a:r>
            <a:r>
              <a:rPr lang="en-IN" b="1" dirty="0"/>
              <a:t>"Who": </a:t>
            </a:r>
            <a:r>
              <a:rPr lang="en-IN" dirty="0"/>
              <a:t>Identifying which customers left or will leave in future </a:t>
            </a:r>
          </a:p>
          <a:p>
            <a:r>
              <a:rPr lang="en-IN" dirty="0"/>
              <a:t>• </a:t>
            </a:r>
            <a:r>
              <a:rPr lang="en-IN" b="1" dirty="0"/>
              <a:t>"Why": </a:t>
            </a:r>
            <a:r>
              <a:rPr lang="en-IN" dirty="0" err="1"/>
              <a:t>Analyzing</a:t>
            </a:r>
            <a:r>
              <a:rPr lang="en-IN" dirty="0"/>
              <a:t> their </a:t>
            </a:r>
            <a:r>
              <a:rPr lang="en-IN" dirty="0" err="1"/>
              <a:t>behavior</a:t>
            </a:r>
            <a:r>
              <a:rPr lang="en-IN" dirty="0"/>
              <a:t> before they left. </a:t>
            </a:r>
          </a:p>
          <a:p>
            <a:r>
              <a:rPr lang="en-IN" dirty="0"/>
              <a:t>• </a:t>
            </a:r>
            <a:r>
              <a:rPr lang="en-IN" b="1" dirty="0"/>
              <a:t>"When": </a:t>
            </a:r>
            <a:r>
              <a:rPr lang="en-IN" dirty="0"/>
              <a:t>Finding the "danger zone" – point when a user leave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EB2602-21BD-DF35-A86A-B9C5994B9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65" y="3422516"/>
            <a:ext cx="5534788" cy="321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3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066B57-D347-9E0C-C365-48517623769A}"/>
              </a:ext>
            </a:extLst>
          </p:cNvPr>
          <p:cNvSpPr txBox="1"/>
          <p:nvPr/>
        </p:nvSpPr>
        <p:spPr>
          <a:xfrm>
            <a:off x="835742" y="50359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Database Tables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BA80A-4E34-E61D-ACE1-7410B84E6096}"/>
              </a:ext>
            </a:extLst>
          </p:cNvPr>
          <p:cNvSpPr txBox="1"/>
          <p:nvPr/>
        </p:nvSpPr>
        <p:spPr>
          <a:xfrm>
            <a:off x="353962" y="159497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Database: </a:t>
            </a:r>
            <a:r>
              <a:rPr lang="en-IN" sz="2000" dirty="0" err="1"/>
              <a:t>customer_churn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96FDFC-F680-C7CB-6B24-388336918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23" y="2100713"/>
            <a:ext cx="9692100" cy="38478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6A2400-2B4C-BF1A-5B84-9EBA35548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578" y="368088"/>
            <a:ext cx="1405693" cy="122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1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2FBD21-5AD9-8E08-DFAD-E08223B1C3CB}"/>
              </a:ext>
            </a:extLst>
          </p:cNvPr>
          <p:cNvSpPr txBox="1"/>
          <p:nvPr/>
        </p:nvSpPr>
        <p:spPr>
          <a:xfrm>
            <a:off x="550606" y="22829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Calculated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AF0FA-A5B3-41D8-5AD8-3D0A8B2A4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6" y="997730"/>
            <a:ext cx="10736826" cy="563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338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278E7E-FEAF-3E19-3DD4-12E06D6FA0F6}"/>
              </a:ext>
            </a:extLst>
          </p:cNvPr>
          <p:cNvSpPr txBox="1"/>
          <p:nvPr/>
        </p:nvSpPr>
        <p:spPr>
          <a:xfrm>
            <a:off x="363793" y="12996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0F0675-262D-B550-8D1B-A9AF570D22B6}"/>
              </a:ext>
            </a:extLst>
          </p:cNvPr>
          <p:cNvSpPr txBox="1"/>
          <p:nvPr/>
        </p:nvSpPr>
        <p:spPr>
          <a:xfrm>
            <a:off x="285135" y="1008934"/>
            <a:ext cx="109727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Insights </a:t>
            </a:r>
          </a:p>
          <a:p>
            <a:r>
              <a:rPr lang="en-IN" dirty="0"/>
              <a:t>• Churn Rate: 28.6%   |   Retention Rate: 71.4% </a:t>
            </a:r>
          </a:p>
          <a:p>
            <a:r>
              <a:rPr lang="en-IN" dirty="0"/>
              <a:t>• Most of the churn is from basic subscription plan – nothing to worry in terms of major revenue impact </a:t>
            </a:r>
          </a:p>
          <a:p>
            <a:r>
              <a:rPr lang="en-IN" dirty="0"/>
              <a:t>• Most of the churn happened in the month of Sep 2024 and, most affected state is Karnataka </a:t>
            </a:r>
          </a:p>
          <a:p>
            <a:r>
              <a:rPr lang="en-IN" dirty="0"/>
              <a:t>• Average Tenure (Days): 1,451 | ARPU is Rs 18.8 </a:t>
            </a:r>
          </a:p>
          <a:p>
            <a:r>
              <a:rPr lang="en-IN" dirty="0"/>
              <a:t>• Total Revenue = 395 </a:t>
            </a:r>
          </a:p>
          <a:p>
            <a:r>
              <a:rPr lang="en-IN" dirty="0"/>
              <a:t>• Revenue loss due to churn = 74 | CLTV Lost = 2,047 </a:t>
            </a:r>
          </a:p>
          <a:p>
            <a:r>
              <a:rPr lang="en-IN" dirty="0"/>
              <a:t>• % Revenue loss = 18% </a:t>
            </a:r>
          </a:p>
          <a:p>
            <a:r>
              <a:rPr lang="en-IN" dirty="0"/>
              <a:t>• monthly vs annual churn = 55.6% vs 8.3%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3803A5-DCD1-B2EA-E968-2FE09B46CABC}"/>
              </a:ext>
            </a:extLst>
          </p:cNvPr>
          <p:cNvSpPr txBox="1"/>
          <p:nvPr/>
        </p:nvSpPr>
        <p:spPr>
          <a:xfrm>
            <a:off x="285135" y="4148255"/>
            <a:ext cx="114152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Action Items </a:t>
            </a:r>
          </a:p>
          <a:p>
            <a:r>
              <a:rPr lang="en-IN" dirty="0"/>
              <a:t>• Check what happened in Karnataka – was there any increase in price, user complaints, tech issues, etc </a:t>
            </a:r>
          </a:p>
          <a:p>
            <a:r>
              <a:rPr lang="en-IN" dirty="0"/>
              <a:t>• Did we increased subs price for Basic plan or recently made any changes – specially in </a:t>
            </a:r>
            <a:r>
              <a:rPr lang="en-IN" dirty="0" err="1"/>
              <a:t>sep</a:t>
            </a:r>
            <a:r>
              <a:rPr lang="en-IN" dirty="0"/>
              <a:t> month? </a:t>
            </a:r>
          </a:p>
          <a:p>
            <a:r>
              <a:rPr lang="en-IN" dirty="0"/>
              <a:t>• Check what competitor is doing – </a:t>
            </a:r>
            <a:r>
              <a:rPr lang="en-IN" dirty="0" err="1"/>
              <a:t>bcoz</a:t>
            </a:r>
            <a:r>
              <a:rPr lang="en-IN" dirty="0"/>
              <a:t> one user has moved to competitor </a:t>
            </a:r>
          </a:p>
          <a:p>
            <a:r>
              <a:rPr lang="en-IN" dirty="0"/>
              <a:t>• Focus on customers with ‘High’ &amp; ‘Med’ churn risk, check their LTV (to make priority list), complaint request, reach out to them through email, </a:t>
            </a:r>
            <a:r>
              <a:rPr lang="en-IN" dirty="0" err="1"/>
              <a:t>sms</a:t>
            </a:r>
            <a:r>
              <a:rPr lang="en-IN" dirty="0"/>
              <a:t>, calls and fix their issue. </a:t>
            </a:r>
          </a:p>
        </p:txBody>
      </p:sp>
    </p:spTree>
    <p:extLst>
      <p:ext uri="{BB962C8B-B14F-4D97-AF65-F5344CB8AC3E}">
        <p14:creationId xmlns:p14="http://schemas.microsoft.com/office/powerpoint/2010/main" val="1842280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527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Rounded MT Bold</vt:lpstr>
      <vt:lpstr>Calibri</vt:lpstr>
      <vt:lpstr>Calibri Light</vt:lpstr>
      <vt:lpstr>Office Theme</vt:lpstr>
      <vt:lpstr>Churn Analysis and  Customer Intelligence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Prajakta Babar</dc:creator>
  <cp:lastModifiedBy>Prajakta Babar</cp:lastModifiedBy>
  <cp:revision>1</cp:revision>
  <dcterms:created xsi:type="dcterms:W3CDTF">2026-09-29T10:37:31Z</dcterms:created>
  <dcterms:modified xsi:type="dcterms:W3CDTF">2026-09-29T18:09:23Z</dcterms:modified>
</cp:coreProperties>
</file>